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1522440" y="1828800"/>
            <a:ext cx="96008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96008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46850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442200" y="1828800"/>
            <a:ext cx="46850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ubTitle"/>
          </p:nvPr>
        </p:nvSpPr>
        <p:spPr>
          <a:xfrm>
            <a:off x="1522440" y="533520"/>
            <a:ext cx="96008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442200" y="1828800"/>
            <a:ext cx="46850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1522440" y="401796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4685040" cy="41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44220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6442200" y="401796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644220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1522440" y="4017960"/>
            <a:ext cx="96008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96008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1522440" y="4017960"/>
            <a:ext cx="96008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442200" y="182880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1522440" y="401796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/>
          </p:nvPr>
        </p:nvSpPr>
        <p:spPr>
          <a:xfrm>
            <a:off x="6442200" y="4017960"/>
            <a:ext cx="468504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522440" y="182880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768560" y="182880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8015040" y="182880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1522440" y="401796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/>
          </p:nvPr>
        </p:nvSpPr>
        <p:spPr>
          <a:xfrm>
            <a:off x="4768560" y="401796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/>
          </p:nvPr>
        </p:nvSpPr>
        <p:spPr>
          <a:xfrm>
            <a:off x="8015040" y="4017960"/>
            <a:ext cx="3091320" cy="19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31"/>
          <p:cNvGrpSpPr/>
          <p:nvPr/>
        </p:nvGrpSpPr>
        <p:grpSpPr>
          <a:xfrm>
            <a:off x="0" y="0"/>
            <a:ext cx="12188520" cy="6858000"/>
            <a:chOff x="0" y="0"/>
            <a:chExt cx="12188520" cy="6858000"/>
          </a:xfrm>
        </p:grpSpPr>
        <p:sp>
          <p:nvSpPr>
            <p:cNvPr id="29" name="Rectangle 8"/>
            <p:cNvSpPr/>
            <p:nvPr/>
          </p:nvSpPr>
          <p:spPr>
            <a:xfrm>
              <a:off x="4164480" y="6705720"/>
              <a:ext cx="8024040" cy="151920"/>
            </a:xfrm>
            <a:prstGeom prst="rect">
              <a:avLst/>
            </a:prstGeom>
            <a:gradFill rotWithShape="0">
              <a:gsLst>
                <a:gs pos="0">
                  <a:srgbClr val="DAEDFB"/>
                </a:gs>
                <a:gs pos="100000">
                  <a:srgbClr val="1480D1"/>
                </a:gs>
              </a:gsLst>
              <a:lin ang="0"/>
            </a:gra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" name="Rectangle 9"/>
            <p:cNvSpPr/>
            <p:nvPr/>
          </p:nvSpPr>
          <p:spPr>
            <a:xfrm>
              <a:off x="11680920" y="1981080"/>
              <a:ext cx="507600" cy="4266720"/>
            </a:xfrm>
            <a:prstGeom prst="rect">
              <a:avLst/>
            </a:prstGeom>
            <a:gradFill rotWithShape="0">
              <a:gsLst>
                <a:gs pos="0">
                  <a:srgbClr val="E8CDE7"/>
                </a:gs>
                <a:gs pos="100000">
                  <a:srgbClr val="BA69B8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" name="Rectangle 10"/>
            <p:cNvSpPr/>
            <p:nvPr/>
          </p:nvSpPr>
          <p:spPr>
            <a:xfrm>
              <a:off x="0" y="5257800"/>
              <a:ext cx="609120" cy="1519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" name="Rectangle 11"/>
            <p:cNvSpPr/>
            <p:nvPr/>
          </p:nvSpPr>
          <p:spPr>
            <a:xfrm>
              <a:off x="0" y="5410080"/>
              <a:ext cx="609120" cy="144756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" name="Rectangle 12"/>
            <p:cNvSpPr/>
            <p:nvPr/>
          </p:nvSpPr>
          <p:spPr>
            <a:xfrm>
              <a:off x="11680920" y="0"/>
              <a:ext cx="507600" cy="1980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Rectangle 13"/>
            <p:cNvSpPr/>
            <p:nvPr/>
          </p:nvSpPr>
          <p:spPr>
            <a:xfrm>
              <a:off x="7617960" y="0"/>
              <a:ext cx="4062600" cy="3045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755DD9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Rectangle 14"/>
            <p:cNvSpPr/>
            <p:nvPr/>
          </p:nvSpPr>
          <p:spPr>
            <a:xfrm>
              <a:off x="609480" y="304920"/>
              <a:ext cx="710640" cy="76176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Rectangle 15"/>
            <p:cNvSpPr/>
            <p:nvPr/>
          </p:nvSpPr>
          <p:spPr>
            <a:xfrm>
              <a:off x="0" y="1066680"/>
              <a:ext cx="609120" cy="4190760"/>
            </a:xfrm>
            <a:prstGeom prst="rect">
              <a:avLst/>
            </a:prstGeom>
            <a:gradFill rotWithShape="0">
              <a:gsLst>
                <a:gs pos="0">
                  <a:srgbClr val="7E6583"/>
                </a:gs>
                <a:gs pos="100000">
                  <a:srgbClr val="FFFFFF"/>
                </a:gs>
              </a:gsLst>
              <a:lin ang="5400000"/>
            </a:gra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Rectangle 16"/>
            <p:cNvSpPr/>
            <p:nvPr/>
          </p:nvSpPr>
          <p:spPr>
            <a:xfrm>
              <a:off x="0" y="304920"/>
              <a:ext cx="609120" cy="7617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Rectangle 17"/>
            <p:cNvSpPr/>
            <p:nvPr/>
          </p:nvSpPr>
          <p:spPr>
            <a:xfrm>
              <a:off x="0" y="0"/>
              <a:ext cx="1320120" cy="30456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92278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Rectangle 18"/>
            <p:cNvSpPr/>
            <p:nvPr/>
          </p:nvSpPr>
          <p:spPr>
            <a:xfrm>
              <a:off x="1320480" y="0"/>
              <a:ext cx="6297120" cy="3045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Line 19"/>
            <p:cNvSpPr/>
            <p:nvPr/>
          </p:nvSpPr>
          <p:spPr>
            <a:xfrm flipV="1">
              <a:off x="609120" y="304560"/>
              <a:ext cx="360" cy="6553440"/>
            </a:xfrm>
            <a:prstGeom prst="line">
              <a:avLst/>
            </a:prstGeom>
            <a:ln w="7620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Line 20"/>
            <p:cNvSpPr/>
            <p:nvPr/>
          </p:nvSpPr>
          <p:spPr>
            <a:xfrm>
              <a:off x="609120" y="6705360"/>
              <a:ext cx="11579400" cy="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Line 21"/>
            <p:cNvSpPr/>
            <p:nvPr/>
          </p:nvSpPr>
          <p:spPr>
            <a:xfrm flipV="1">
              <a:off x="11680920" y="0"/>
              <a:ext cx="360" cy="6705360"/>
            </a:xfrm>
            <a:prstGeom prst="line">
              <a:avLst/>
            </a:prstGeom>
            <a:ln w="5715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Line 22"/>
            <p:cNvSpPr/>
            <p:nvPr/>
          </p:nvSpPr>
          <p:spPr>
            <a:xfrm>
              <a:off x="0" y="304560"/>
              <a:ext cx="12188520" cy="360"/>
            </a:xfrm>
            <a:prstGeom prst="line">
              <a:avLst/>
            </a:prstGeom>
            <a:ln w="3810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" name="Line 23"/>
            <p:cNvSpPr/>
            <p:nvPr/>
          </p:nvSpPr>
          <p:spPr>
            <a:xfrm flipH="1">
              <a:off x="7617960" y="457200"/>
              <a:ext cx="4570560" cy="36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" name="Line 24"/>
            <p:cNvSpPr/>
            <p:nvPr/>
          </p:nvSpPr>
          <p:spPr>
            <a:xfrm flipV="1">
              <a:off x="7617960" y="0"/>
              <a:ext cx="360" cy="45720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" name="Line 25"/>
            <p:cNvSpPr/>
            <p:nvPr/>
          </p:nvSpPr>
          <p:spPr>
            <a:xfrm>
              <a:off x="11680920" y="1981080"/>
              <a:ext cx="5076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" name="Line 26"/>
            <p:cNvSpPr/>
            <p:nvPr/>
          </p:nvSpPr>
          <p:spPr>
            <a:xfrm>
              <a:off x="1320120" y="0"/>
              <a:ext cx="360" cy="1066680"/>
            </a:xfrm>
            <a:prstGeom prst="line">
              <a:avLst/>
            </a:prstGeom>
            <a:ln w="19050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" name="Line 27"/>
            <p:cNvSpPr/>
            <p:nvPr/>
          </p:nvSpPr>
          <p:spPr>
            <a:xfrm flipH="1">
              <a:off x="0" y="1066680"/>
              <a:ext cx="1320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" name="Line 30"/>
            <p:cNvSpPr/>
            <p:nvPr/>
          </p:nvSpPr>
          <p:spPr>
            <a:xfrm flipH="1">
              <a:off x="0" y="5257800"/>
              <a:ext cx="609120" cy="360"/>
            </a:xfrm>
            <a:prstGeom prst="line">
              <a:avLst/>
            </a:prstGeom>
            <a:ln w="28575">
              <a:solidFill>
                <a:srgbClr val="80808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" name="Line 31"/>
            <p:cNvSpPr/>
            <p:nvPr/>
          </p:nvSpPr>
          <p:spPr>
            <a:xfrm flipH="1">
              <a:off x="0" y="5410080"/>
              <a:ext cx="609120" cy="360"/>
            </a:xfrm>
            <a:prstGeom prst="line">
              <a:avLst/>
            </a:prstGeom>
            <a:ln w="28575">
              <a:solidFill>
                <a:srgbClr val="92278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2440" y="53352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spc="-1">
                <a:solidFill>
                  <a:srgbClr val="632E62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522440" y="1828800"/>
            <a:ext cx="9600840" cy="4190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3920" indent="-223920">
              <a:lnSpc>
                <a:spcPct val="90000"/>
              </a:lnSpc>
              <a:spcBef>
                <a:spcPts val="1800"/>
              </a:spcBef>
              <a:buClr>
                <a:srgbClr val="9B57D3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Edit Master text styles</a:t>
            </a:r>
          </a:p>
          <a:p>
            <a:pPr marL="502920" lvl="1" indent="-223920">
              <a:lnSpc>
                <a:spcPct val="90000"/>
              </a:lnSpc>
              <a:spcBef>
                <a:spcPts val="799"/>
              </a:spcBef>
              <a:buClr>
                <a:srgbClr val="9B57D3"/>
              </a:buClr>
              <a:buFont typeface="Arial"/>
              <a:buChar char="–"/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Second level</a:t>
            </a:r>
          </a:p>
          <a:p>
            <a:pPr marL="741240" lvl="2" indent="-171360">
              <a:lnSpc>
                <a:spcPct val="90000"/>
              </a:lnSpc>
              <a:spcBef>
                <a:spcPts val="601"/>
              </a:spcBef>
              <a:buClr>
                <a:srgbClr val="9B57D3"/>
              </a:buClr>
              <a:buFont typeface="Arial"/>
              <a:buChar char="•"/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Third level</a:t>
            </a:r>
          </a:p>
          <a:p>
            <a:pPr marL="966960" lvl="3" indent="-173160">
              <a:lnSpc>
                <a:spcPct val="90000"/>
              </a:lnSpc>
              <a:spcBef>
                <a:spcPts val="601"/>
              </a:spcBef>
              <a:buClr>
                <a:srgbClr val="9B57D3"/>
              </a:buClr>
              <a:buFont typeface="Arial"/>
              <a:buChar char="–"/>
            </a:pP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Fourth level</a:t>
            </a:r>
          </a:p>
          <a:p>
            <a:pPr marL="1208160" lvl="4" indent="-173160">
              <a:lnSpc>
                <a:spcPct val="90000"/>
              </a:lnSpc>
              <a:spcBef>
                <a:spcPts val="601"/>
              </a:spcBef>
              <a:buClr>
                <a:srgbClr val="9B57D3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entury Gothic"/>
              </a:rPr>
              <a:t>Fifth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Technologies Project PPT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/>
          </p:nvPr>
        </p:nvSpPr>
        <p:spPr>
          <a:xfrm>
            <a:off x="8609040" y="6172200"/>
            <a:ext cx="13197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0CFBD10-3E1A-4A96-AD51-0CD4C65D72C0}" type="datetime1"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9/19/2025</a:t>
            </a:fld>
            <a:endParaRPr lang="en-IN" sz="1100" b="0" strike="noStrike" spc="-1"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/>
          </p:nvPr>
        </p:nvSpPr>
        <p:spPr>
          <a:xfrm>
            <a:off x="10132920" y="6172200"/>
            <a:ext cx="9903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30CFB07-9352-47D7-9E63-D1067447D111}" type="slidenum"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‹#›</a:t>
            </a:fld>
            <a:endParaRPr lang="en-IN" sz="11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29840" y="783000"/>
            <a:ext cx="9600840" cy="1142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74000"/>
          </a:bodyPr>
          <a:lstStyle/>
          <a:p>
            <a:pPr algn="ctr">
              <a:lnSpc>
                <a:spcPct val="90000"/>
              </a:lnSpc>
            </a:pPr>
            <a:r>
              <a:rPr lang="en-US" sz="3200" b="0" strike="noStrike" spc="-1">
                <a:solidFill>
                  <a:srgbClr val="632E62"/>
                </a:solidFill>
                <a:latin typeface="Arial"/>
              </a:rPr>
              <a:t>    </a:t>
            </a:r>
            <a:br/>
            <a:r>
              <a:rPr lang="en-US" sz="3200" b="0" strike="noStrike" spc="-1">
                <a:solidFill>
                  <a:srgbClr val="632E62"/>
                </a:solidFill>
                <a:latin typeface="Arial"/>
              </a:rPr>
              <a:t>   </a:t>
            </a:r>
            <a:r>
              <a:rPr lang="en-US" sz="3600" b="0" strike="noStrike" spc="-1">
                <a:solidFill>
                  <a:srgbClr val="632E62"/>
                </a:solidFill>
                <a:latin typeface="Arial"/>
              </a:rPr>
              <a:t>BIKE RENTAL MANAGEMENT SYSTEM</a:t>
            </a:r>
            <a:br/>
            <a:endParaRPr lang="en-US" sz="36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293840" y="1354680"/>
            <a:ext cx="9600840" cy="4106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lstStyle/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Department of Computer Science and Emerging Technologies (CS)</a:t>
            </a: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Noida Institute of Engineering and Technology</a:t>
            </a: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Submitted To:  </a:t>
            </a:r>
            <a:r>
              <a:rPr lang="en-US" sz="2400" b="1" strike="noStrike" spc="-1">
                <a:solidFill>
                  <a:srgbClr val="6E1D6B"/>
                </a:solidFill>
                <a:latin typeface="Arial"/>
              </a:rPr>
              <a:t>Mr. Anshul Varshney (Assistant Professor)</a:t>
            </a: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entury Gothic"/>
            </a:endParaRP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Group Members</a:t>
            </a:r>
          </a:p>
          <a:p>
            <a:pPr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66" name="Table 5"/>
          <p:cNvGraphicFramePr/>
          <p:nvPr>
            <p:extLst>
              <p:ext uri="{D42A27DB-BD31-4B8C-83A1-F6EECF244321}">
                <p14:modId xmlns:p14="http://schemas.microsoft.com/office/powerpoint/2010/main" val="1560169294"/>
              </p:ext>
            </p:extLst>
          </p:nvPr>
        </p:nvGraphicFramePr>
        <p:xfrm>
          <a:off x="2049120" y="3528720"/>
          <a:ext cx="8346240" cy="2590800"/>
        </p:xfrm>
        <a:graphic>
          <a:graphicData uri="http://schemas.openxmlformats.org/drawingml/2006/table">
            <a:tbl>
              <a:tblPr/>
              <a:tblGrid>
                <a:gridCol w="158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Name of Member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Roll Number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227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Department n Section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227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Aditya Jadon</a:t>
                      </a:r>
                      <a:endParaRPr lang="en-IN" sz="14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2301330120009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Team Lead, Design, and Database</a:t>
                      </a: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CS-A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Vishal Sinha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2301330120117</a:t>
                      </a:r>
                      <a:endParaRPr lang="en-IN" sz="14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Front-end Development</a:t>
                      </a: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CS-B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Vikash Vaibhav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2301330120116</a:t>
                      </a:r>
                      <a:endParaRPr lang="en-IN" sz="14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Back-end Development</a:t>
                      </a:r>
                      <a:endParaRPr lang="en-IN" sz="14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CS-B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BC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Arihant Kumar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2301330120028</a:t>
                      </a:r>
                      <a:endParaRPr lang="en-IN" sz="14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Documentation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CS-A</a:t>
                      </a:r>
                      <a:endParaRPr lang="en-IN" sz="14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7" name="Picture 1" descr="A black and red logo&#10;&#10;Description automatically generated"/>
          <p:cNvPicPr/>
          <p:nvPr/>
        </p:nvPicPr>
        <p:blipFill>
          <a:blip r:embed="rId2"/>
          <a:stretch/>
        </p:blipFill>
        <p:spPr>
          <a:xfrm>
            <a:off x="9046800" y="738360"/>
            <a:ext cx="2209320" cy="94680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3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70" name="Rectangle 1"/>
          <p:cNvSpPr/>
          <p:nvPr/>
        </p:nvSpPr>
        <p:spPr>
          <a:xfrm>
            <a:off x="1497960" y="948960"/>
            <a:ext cx="9192960" cy="356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Abstract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There is growing demand for flexible and affordable transportation.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Current rental systems lack automation and real-time tracking.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Problem: Current rental systems lack automation and real-time tracking.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Solution: A web-based system for booking, renting, and managing bikes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Technologies used: 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HTML, CSS, JavaScript, PHP, Bootstrap, MySQL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Expected output: 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Efficient, user-friendly rental management platform.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72" name="Rectangle 1"/>
          <p:cNvSpPr/>
          <p:nvPr/>
        </p:nvSpPr>
        <p:spPr>
          <a:xfrm>
            <a:off x="1850760" y="872280"/>
            <a:ext cx="8487000" cy="356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Introduction / Background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Bike rentals are increasingly popular for daily commuters and tourists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Manual booking systems cause delays and errors.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Need for a centralized web-based system for managing users, bookings, and payments.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Scope: Online registration, bike availability check, booking, billing, and admin dashboard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74" name="Rectangle 1"/>
          <p:cNvSpPr/>
          <p:nvPr/>
        </p:nvSpPr>
        <p:spPr>
          <a:xfrm>
            <a:off x="1568880" y="849240"/>
            <a:ext cx="9050760" cy="274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Problem Statement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Existing manual/partial digital systems are time-consuming and error-prone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Lack of real-time bike availability updates.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No proper system for user authentication, billing, or tracking.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76" name="Rectangle 1"/>
          <p:cNvSpPr/>
          <p:nvPr/>
        </p:nvSpPr>
        <p:spPr>
          <a:xfrm>
            <a:off x="1449720" y="789840"/>
            <a:ext cx="9288720" cy="310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Objectives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 design a user-friendly bike rental web system.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 provide real-time availability of bikes.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 automate booking, payment, and return process.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 develop an admin panel for managing bikes, customers, and reports.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To ensure secure user authentication and transaction management.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78" name="Rectangle 1"/>
          <p:cNvSpPr/>
          <p:nvPr/>
        </p:nvSpPr>
        <p:spPr>
          <a:xfrm>
            <a:off x="1554480" y="852120"/>
            <a:ext cx="9079560" cy="36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Literature Review / Existing System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Traditional bike rental shops still use manual registers for customer details, manual billing, paper agreement by giving a slip having bike and customer details etc.. 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causes errors in calculation, and no data analytics (owners don’t know usage trends and peak times.)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80" name="Rectangle 1"/>
          <p:cNvSpPr/>
          <p:nvPr/>
        </p:nvSpPr>
        <p:spPr>
          <a:xfrm>
            <a:off x="1449360" y="828360"/>
            <a:ext cx="9289800" cy="36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Century Gothic"/>
              </a:rPr>
              <a:t>System Architecture / Design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Frontend: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HTML, CSS, JavaScript.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Backend: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PHP 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Database: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MySQL.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Workflow: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</a:t>
            </a: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User Request </a:t>
            </a:r>
            <a:r>
              <a:rPr lang="en-IN" sz="18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 Backend Processing </a:t>
            </a:r>
            <a:r>
              <a:rPr lang="en-IN" sz="18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 DB Query </a:t>
            </a:r>
            <a:r>
              <a:rPr lang="en-IN" sz="18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 Response </a:t>
            </a:r>
            <a:r>
              <a:rPr lang="en-IN" sz="18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 UI Display</a:t>
            </a:r>
            <a:r>
              <a:rPr lang="en-IN" sz="1800" b="0" strike="noStrike" spc="-1">
                <a:solidFill>
                  <a:srgbClr val="000000"/>
                </a:solidFill>
                <a:latin typeface="Century Gothic"/>
              </a:rPr>
              <a:t>.</a:t>
            </a:r>
            <a:endParaRPr lang="en-IN" sz="18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82" name="Rectangle 1"/>
          <p:cNvSpPr/>
          <p:nvPr/>
        </p:nvSpPr>
        <p:spPr>
          <a:xfrm>
            <a:off x="2646360" y="764640"/>
            <a:ext cx="8658720" cy="447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Methodology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Steps in development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 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Requirement Analysis  </a:t>
            </a:r>
            <a:r>
              <a:rPr lang="en-IN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 System Design  </a:t>
            </a:r>
            <a:r>
              <a:rPr lang="en-IN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 Development  </a:t>
            </a:r>
            <a:r>
              <a:rPr lang="en-IN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      Implementation  </a:t>
            </a:r>
            <a:r>
              <a:rPr lang="en-IN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  Testing</a:t>
            </a:r>
            <a:r>
              <a:rPr lang="en-IN" sz="2000" b="0" strike="noStrike" spc="-1">
                <a:solidFill>
                  <a:srgbClr val="000000"/>
                </a:solidFill>
                <a:latin typeface="Century Gothic"/>
              </a:rPr>
              <a:t>  </a:t>
            </a:r>
            <a:r>
              <a:rPr lang="en-IN" sz="2000" b="0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IN" sz="2000" b="0" strike="noStrike" spc="-1">
                <a:solidFill>
                  <a:srgbClr val="000000"/>
                </a:solidFill>
                <a:latin typeface="Century Gothic"/>
              </a:rPr>
              <a:t>  </a:t>
            </a: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Deployment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IN" sz="2000" b="0" strike="noStrike" spc="-1">
                <a:solidFill>
                  <a:srgbClr val="000000"/>
                </a:solidFill>
                <a:latin typeface="Century Gothic"/>
              </a:rPr>
              <a:t>                                                                                         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Tools and programming languages :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HTML, CSS, JavaScript, Bootstrap and PHP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Database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: MySQL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84" name="Rectangle 1"/>
          <p:cNvSpPr/>
          <p:nvPr/>
        </p:nvSpPr>
        <p:spPr>
          <a:xfrm>
            <a:off x="1622160" y="733680"/>
            <a:ext cx="9743400" cy="356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Hardware &amp; Software Requirements</a:t>
            </a:r>
            <a:endParaRPr lang="en-IN" sz="32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Hardware: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    A working PC, Laptop, or Mobile Phone with internet connection.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Software: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    OS: Windows &amp; Linux 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    IDE: VS Code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        DBMS: MySQL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1951920" y="884520"/>
            <a:ext cx="828468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Expected Output / Results</a:t>
            </a:r>
            <a:endParaRPr lang="en-IN" sz="3200" b="0" strike="noStrike" spc="-1">
              <a:latin typeface="Arial"/>
            </a:endParaRPr>
          </a:p>
        </p:txBody>
      </p:sp>
      <p:pic>
        <p:nvPicPr>
          <p:cNvPr id="87" name="Picture 1"/>
          <p:cNvPicPr/>
          <p:nvPr/>
        </p:nvPicPr>
        <p:blipFill>
          <a:blip r:embed="rId2"/>
          <a:stretch/>
        </p:blipFill>
        <p:spPr>
          <a:xfrm>
            <a:off x="3296520" y="1764720"/>
            <a:ext cx="5595120" cy="4208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pic>
        <p:nvPicPr>
          <p:cNvPr id="89" name="Picture 88"/>
          <p:cNvPicPr/>
          <p:nvPr/>
        </p:nvPicPr>
        <p:blipFill>
          <a:blip r:embed="rId2"/>
          <a:stretch/>
        </p:blipFill>
        <p:spPr>
          <a:xfrm>
            <a:off x="24120" y="10800"/>
            <a:ext cx="12188520" cy="685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pic>
        <p:nvPicPr>
          <p:cNvPr id="91" name="Picture 90"/>
          <p:cNvPicPr/>
          <p:nvPr/>
        </p:nvPicPr>
        <p:blipFill>
          <a:blip r:embed="rId2"/>
          <a:stretch/>
        </p:blipFill>
        <p:spPr>
          <a:xfrm>
            <a:off x="24120" y="10800"/>
            <a:ext cx="12188520" cy="685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pic>
        <p:nvPicPr>
          <p:cNvPr id="93" name="Picture 92"/>
          <p:cNvPicPr/>
          <p:nvPr/>
        </p:nvPicPr>
        <p:blipFill>
          <a:blip r:embed="rId2"/>
          <a:stretch/>
        </p:blipFill>
        <p:spPr>
          <a:xfrm>
            <a:off x="24120" y="10800"/>
            <a:ext cx="12188520" cy="685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2"/>
          <a:stretch/>
        </p:blipFill>
        <p:spPr>
          <a:xfrm>
            <a:off x="24120" y="10800"/>
            <a:ext cx="12188520" cy="685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pic>
        <p:nvPicPr>
          <p:cNvPr id="97" name="Picture 96"/>
          <p:cNvPicPr/>
          <p:nvPr/>
        </p:nvPicPr>
        <p:blipFill>
          <a:blip r:embed="rId2"/>
          <a:stretch/>
        </p:blipFill>
        <p:spPr>
          <a:xfrm>
            <a:off x="24120" y="10800"/>
            <a:ext cx="12188520" cy="685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99" name="Rectangle 1"/>
          <p:cNvSpPr/>
          <p:nvPr/>
        </p:nvSpPr>
        <p:spPr>
          <a:xfrm>
            <a:off x="1902600" y="835560"/>
            <a:ext cx="6092640" cy="411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Century Gothic"/>
              </a:rPr>
              <a:t>Applications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0" strike="noStrike" spc="-1">
                <a:solidFill>
                  <a:srgbClr val="000000"/>
                </a:solidFill>
                <a:latin typeface="Century Gothic"/>
              </a:rPr>
              <a:t>Bike rental shops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0" strike="noStrike" spc="-1">
                <a:solidFill>
                  <a:srgbClr val="000000"/>
                </a:solidFill>
                <a:latin typeface="Century Gothic"/>
              </a:rPr>
              <a:t>Tourist agencies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b="0" strike="noStrike" spc="-1">
                <a:solidFill>
                  <a:srgbClr val="000000"/>
                </a:solidFill>
                <a:latin typeface="Century Gothic"/>
              </a:rPr>
              <a:t>Solo Travellers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101" name="Rectangle 1"/>
          <p:cNvSpPr/>
          <p:nvPr/>
        </p:nvSpPr>
        <p:spPr>
          <a:xfrm>
            <a:off x="2604240" y="937080"/>
            <a:ext cx="8066160" cy="463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Future Enhancements</a:t>
            </a:r>
            <a:endParaRPr lang="en-IN" sz="3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Emergency Mode:-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If the user’s bike breaks down mid-ride →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app shows nearest mechanic or replacement bike station.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SOS button to request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emergency pickup or alternative ride.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Weather Based Suggestions:-</a:t>
            </a:r>
            <a:endParaRPr lang="en-IN" sz="20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App shows warnings like: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-Rain expected in 30 minutes.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-Strong winds, consider postponing ride.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  <p:sp>
        <p:nvSpPr>
          <p:cNvPr id="103" name="Rectangle 1"/>
          <p:cNvSpPr/>
          <p:nvPr/>
        </p:nvSpPr>
        <p:spPr>
          <a:xfrm>
            <a:off x="2028240" y="1227600"/>
            <a:ext cx="8132400" cy="18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References</a:t>
            </a:r>
            <a:endParaRPr lang="en-IN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 [1]</a:t>
            </a: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 GitHub having Bike rental system projects:  </a:t>
            </a:r>
            <a:r>
              <a:rPr lang="en-IN" sz="1200" b="0" u="sng" strike="noStrike" spc="-1">
                <a:solidFill>
                  <a:srgbClr val="000000"/>
                </a:solidFill>
                <a:uFillTx/>
                <a:latin typeface="Century Gothic"/>
              </a:rPr>
              <a:t>sabbir-hossain-abir/Bike-Rental-System</a:t>
            </a:r>
            <a:endParaRPr lang="en-IN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 [2] </a:t>
            </a: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Websites having Bike Rental Service:  https://bikerentalmanager.com/</a:t>
            </a:r>
            <a:endParaRPr lang="en-IN" sz="1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1379520" y="2666880"/>
            <a:ext cx="9600840" cy="4190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3920" indent="-223920" algn="ctr">
              <a:lnSpc>
                <a:spcPct val="90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GB" sz="8800" b="0" strike="noStrike" spc="-1">
                <a:solidFill>
                  <a:srgbClr val="6E1D6B"/>
                </a:solidFill>
                <a:latin typeface="Century Gothic"/>
              </a:rPr>
              <a:t>Thank You</a:t>
            </a:r>
            <a:endParaRPr lang="en-US" sz="8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/>
          </p:nvPr>
        </p:nvSpPr>
        <p:spPr>
          <a:xfrm>
            <a:off x="1518120" y="6172200"/>
            <a:ext cx="6861960" cy="272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strike="noStrike" spc="-1">
                <a:solidFill>
                  <a:srgbClr val="000000"/>
                </a:solidFill>
                <a:latin typeface="Century Gothic"/>
              </a:rPr>
              <a:t>Web Technology Project 2025-26 Odd Sem</a:t>
            </a:r>
            <a:endParaRPr lang="en-IN" sz="11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390</TotalTime>
  <Words>654</Words>
  <Application>Microsoft Office PowerPoint</Application>
  <PresentationFormat>Custom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Times New Roman</vt:lpstr>
      <vt:lpstr>Wingdings</vt:lpstr>
      <vt:lpstr>Office Theme</vt:lpstr>
      <vt:lpstr>        BIKE RENTAL MANAGEMENT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subject/>
  <dc:creator>Sudhanshu</dc:creator>
  <dc:description/>
  <cp:lastModifiedBy>Arihant Kumar Shounak</cp:lastModifiedBy>
  <cp:revision>41</cp:revision>
  <dcterms:created xsi:type="dcterms:W3CDTF">2017-11-16T17:39:44Z</dcterms:created>
  <dcterms:modified xsi:type="dcterms:W3CDTF">2025-09-19T13:30:53Z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0x010100AA3F7D94069FF64A86F7DFF56D60E3BE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Order">
    <vt:r8>74067800</vt:r8>
  </property>
  <property fmtid="{D5CDD505-2E9C-101B-9397-08002B2CF9AE}" pid="11" name="PresentationFormat">
    <vt:lpwstr>Custom</vt:lpwstr>
  </property>
  <property fmtid="{D5CDD505-2E9C-101B-9397-08002B2CF9AE}" pid="12" name="ScenarioTags">
    <vt:lpwstr/>
  </property>
  <property fmtid="{D5CDD505-2E9C-101B-9397-08002B2CF9AE}" pid="13" name="Slides">
    <vt:i4>16</vt:i4>
  </property>
</Properties>
</file>